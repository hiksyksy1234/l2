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9"/>
  </p:notesMasterIdLst>
  <p:sldIdLst>
    <p:sldId id="268" r:id="rId2"/>
    <p:sldId id="263" r:id="rId3"/>
    <p:sldId id="273" r:id="rId4"/>
    <p:sldId id="274" r:id="rId5"/>
    <p:sldId id="275" r:id="rId6"/>
    <p:sldId id="270" r:id="rId7"/>
    <p:sldId id="271" r:id="rId8"/>
    <p:sldId id="256" r:id="rId9"/>
    <p:sldId id="260" r:id="rId10"/>
    <p:sldId id="264" r:id="rId11"/>
    <p:sldId id="265" r:id="rId12"/>
    <p:sldId id="261" r:id="rId13"/>
    <p:sldId id="262" r:id="rId14"/>
    <p:sldId id="257" r:id="rId15"/>
    <p:sldId id="272" r:id="rId16"/>
    <p:sldId id="258" r:id="rId17"/>
    <p:sldId id="259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8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47C8F-E0DB-4626-913F-CA1AAF6DF481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7ED6C-19C3-4582-A7B4-2E5D699F0F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6758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68BDEC-0357-4086-991D-2E3B06D83A0F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xmlns="" val="249901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14348" y="2143116"/>
            <a:ext cx="7643866" cy="150019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85786" y="3786190"/>
            <a:ext cx="7500990" cy="857256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285728"/>
            <a:ext cx="8554805" cy="939784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9"/>
            <a:ext cx="456478" cy="6857999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071810"/>
            <a:ext cx="7715304" cy="1504952"/>
          </a:xfrm>
        </p:spPr>
        <p:txBody>
          <a:bodyPr anchor="ctr"/>
          <a:lstStyle>
            <a:lvl1pPr algn="l">
              <a:defRPr sz="4000" b="0" cap="all">
                <a:effectLst>
                  <a:outerShdw blurRad="44450" dist="25400" dir="2700000" algn="tl" rotWithShape="0">
                    <a:schemeClr val="bg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0034" y="4500570"/>
            <a:ext cx="7715304" cy="1643064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400">
                <a:solidFill>
                  <a:schemeClr val="tx2"/>
                </a:solidFill>
              </a:defRPr>
            </a:lvl4pPr>
            <a:lvl5pPr marL="1828800" indent="0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500034" y="4429132"/>
            <a:ext cx="7715304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날짜 개체 틀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285728"/>
            <a:ext cx="9144032" cy="114301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 bwMode="invGray">
          <a:xfrm>
            <a:off x="785782" y="1643050"/>
            <a:ext cx="3786218" cy="4429156"/>
          </a:xfrm>
          <a:prstGeom prst="roundRect">
            <a:avLst>
              <a:gd name="adj" fmla="val 5345"/>
            </a:avLst>
          </a:prstGeom>
          <a:solidFill>
            <a:schemeClr val="tx2">
              <a:tint val="50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invGray">
          <a:xfrm>
            <a:off x="4714876" y="1643050"/>
            <a:ext cx="3785616" cy="4429156"/>
          </a:xfrm>
          <a:prstGeom prst="roundRect">
            <a:avLst>
              <a:gd name="adj" fmla="val 6980"/>
            </a:avLst>
          </a:prstGeom>
          <a:solidFill>
            <a:schemeClr val="tx2">
              <a:tint val="75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내용 개체 틀 9"/>
          <p:cNvSpPr>
            <a:spLocks noGrp="1"/>
          </p:cNvSpPr>
          <p:nvPr>
            <p:ph sz="half" idx="2"/>
          </p:nvPr>
        </p:nvSpPr>
        <p:spPr bwMode="invGray">
          <a:xfrm>
            <a:off x="500038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1">
                  <a:shade val="75000"/>
                  <a:alpha val="50000"/>
                </a:schemeClr>
              </a:gs>
              <a:gs pos="100000">
                <a:schemeClr val="accent1">
                  <a:shade val="75000"/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ltGray">
          <a:xfrm>
            <a:off x="500038" y="5429264"/>
            <a:ext cx="4005072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half" idx="4"/>
          </p:nvPr>
        </p:nvSpPr>
        <p:spPr bwMode="invGray">
          <a:xfrm>
            <a:off x="4716932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2">
                  <a:shade val="75000"/>
                  <a:alpha val="50000"/>
                </a:schemeClr>
              </a:gs>
              <a:gs pos="100000">
                <a:schemeClr val="accent2"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 bwMode="ltGray">
          <a:xfrm>
            <a:off x="4714876" y="5429264"/>
            <a:ext cx="4000528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859915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186766" cy="1143000"/>
          </a:xfrm>
        </p:spPr>
        <p:txBody>
          <a:bodyPr/>
          <a:lstStyle>
            <a:lvl1pPr algn="l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invGray">
          <a:xfrm>
            <a:off x="285720" y="263808"/>
            <a:ext cx="8858280" cy="664862"/>
          </a:xfrm>
          <a:prstGeom prst="rect">
            <a:avLst/>
          </a:prstGeom>
          <a:solidFill>
            <a:schemeClr val="tx1">
              <a:tint val="95000"/>
              <a:alpha val="69804"/>
            </a:scheme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 bwMode="invGray">
          <a:xfrm>
            <a:off x="500034" y="285728"/>
            <a:ext cx="8143932" cy="642942"/>
          </a:xfrm>
          <a:noFill/>
        </p:spPr>
        <p:txBody>
          <a:bodyPr anchor="b">
            <a:noAutofit/>
          </a:bodyPr>
          <a:lstStyle>
            <a:lvl1pPr algn="l">
              <a:defRPr sz="2800" b="1">
                <a:ln w="9525" cmpd="sng">
                  <a:noFill/>
                </a:ln>
                <a:solidFill>
                  <a:schemeClr val="bg1"/>
                </a:solidFill>
                <a:effectLst>
                  <a:outerShdw blurRad="44450" dist="25400" dir="2700000" algn="tl" rotWithShape="0">
                    <a:schemeClr val="tx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1006230"/>
            <a:ext cx="2214578" cy="5351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내용 개체 틀 14"/>
          <p:cNvSpPr>
            <a:spLocks noGrp="1"/>
          </p:cNvSpPr>
          <p:nvPr>
            <p:ph sz="quarter" idx="1"/>
          </p:nvPr>
        </p:nvSpPr>
        <p:spPr>
          <a:xfrm>
            <a:off x="2786064" y="1000108"/>
            <a:ext cx="5857875" cy="535783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571876"/>
            <a:ext cx="9144000" cy="3286126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571876"/>
            <a:ext cx="3286148" cy="113824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4714884"/>
            <a:ext cx="3286148" cy="11430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572272"/>
            <a:ext cx="2895600" cy="2977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idx="1"/>
          </p:nvPr>
        </p:nvSpPr>
        <p:spPr>
          <a:xfrm>
            <a:off x="4000496" y="1071546"/>
            <a:ext cx="4214842" cy="4714908"/>
          </a:xfrm>
          <a:solidFill>
            <a:schemeClr val="tx2"/>
          </a:solidFill>
          <a:ln w="152400" cap="rnd">
            <a:solidFill>
              <a:srgbClr val="FFFFFF"/>
            </a:soli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twoPt" dir="t">
              <a:rot lat="0" lon="0" rev="10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tint val="10000"/>
                  </a:schemeClr>
                </a:solidFill>
                <a:effectLst>
                  <a:outerShdw blurRad="50800" dist="50800" dir="5400000" algn="tl" rotWithShape="0">
                    <a:srgbClr val="000000">
                      <a:alpha val="58000"/>
                    </a:srgbClr>
                  </a:outerShdw>
                </a:effectLst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b"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00175"/>
            <a:ext cx="8229600" cy="4625989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455646" y="1428736"/>
            <a:ext cx="8215370" cy="1588"/>
          </a:xfrm>
          <a:prstGeom prst="line">
            <a:avLst/>
          </a:prstGeom>
          <a:noFill/>
          <a:ln w="28575" cap="sq" cmpd="sng" algn="ctr">
            <a:solidFill>
              <a:srgbClr val="E49458"/>
            </a:solidFill>
            <a:prstDash val="solid"/>
          </a:ln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rgbClr val="E49458">
                <a:tint val="100000"/>
                <a:shade val="100000"/>
                <a:hueMod val="100000"/>
                <a:satMod val="100000"/>
              </a:srgb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643834" y="-15949"/>
            <a:ext cx="1500166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43834" y="285728"/>
            <a:ext cx="1214446" cy="6286546"/>
          </a:xfrm>
          <a:noFill/>
        </p:spPr>
        <p:txBody>
          <a:bodyPr vert="eaVert" anchor="b"/>
          <a:lstStyle>
            <a:lvl1pPr algn="ctr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571481"/>
            <a:ext cx="7115196" cy="5715044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72572"/>
            <a:ext cx="7162800" cy="5231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798286"/>
            <a:ext cx="4038600" cy="58782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798286"/>
            <a:ext cx="4038600" cy="587828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679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679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679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83722E0-AB26-474F-A582-4C908965700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230930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2380"/>
            <a:ext cx="9144000" cy="283348"/>
          </a:xfrm>
          <a:prstGeom prst="rect">
            <a:avLst/>
          </a:prstGeom>
          <a:solidFill>
            <a:schemeClr val="accent4"/>
          </a:solidFill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12353" y="274638"/>
            <a:ext cx="8545927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E5B501D-8764-46E5-A065-B5FB23B7CC26}" type="datetimeFigureOut">
              <a:rPr lang="ko-KR" altLang="en-US" smtClean="0"/>
              <a:pPr/>
              <a:t>2022-06-14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72272"/>
            <a:ext cx="2895600" cy="285752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AFAFBE24-A2F2-4A2C-AE58-CF3885FC74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ctr" rtl="0" eaLnBrk="1" latinLnBrk="1" hangingPunct="1">
        <a:spcBef>
          <a:spcPct val="0"/>
        </a:spcBef>
        <a:buNone/>
        <a:defRPr kumimoji="0" sz="4400" b="0" kern="1200" spc="100" dirty="0">
          <a:ln w="18000">
            <a:noFill/>
            <a:prstDash val="solid"/>
          </a:ln>
          <a:solidFill>
            <a:schemeClr val="tx1"/>
          </a:solidFill>
          <a:effectLst>
            <a:outerShdw blurRad="44450" dist="25400" dir="2700000" algn="tl" rotWithShape="0">
              <a:schemeClr val="bg1">
                <a:alpha val="51000"/>
              </a:scheme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1" hangingPunct="1">
        <a:spcBef>
          <a:spcPct val="20000"/>
        </a:spcBef>
        <a:buFont typeface="Arial"/>
        <a:buChar char="•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JDBC </a:t>
            </a:r>
            <a:r>
              <a:rPr lang="ko-KR" altLang="en-US"/>
              <a:t>프로그래밍</a:t>
            </a:r>
          </a:p>
        </p:txBody>
      </p:sp>
      <p:sp>
        <p:nvSpPr>
          <p:cNvPr id="78131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17715" y="798286"/>
            <a:ext cx="8708571" cy="5152571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667" dirty="0">
                <a:solidFill>
                  <a:srgbClr val="0070C0"/>
                </a:solidFill>
              </a:rPr>
              <a:t>JDBC (Java </a:t>
            </a:r>
            <a:r>
              <a:rPr lang="en-US" sz="2667" dirty="0" err="1">
                <a:solidFill>
                  <a:srgbClr val="0070C0"/>
                </a:solidFill>
              </a:rPr>
              <a:t>DataBase</a:t>
            </a:r>
            <a:r>
              <a:rPr lang="en-US" sz="2667" dirty="0">
                <a:solidFill>
                  <a:srgbClr val="0070C0"/>
                </a:solidFill>
              </a:rPr>
              <a:t> Connectivity)</a:t>
            </a:r>
            <a:r>
              <a:rPr lang="ko-KR" altLang="en-US" sz="2667" dirty="0">
                <a:solidFill>
                  <a:srgbClr val="0070C0"/>
                </a:solidFill>
              </a:rPr>
              <a:t>드라이버란</a:t>
            </a:r>
            <a:r>
              <a:rPr lang="en-US" altLang="ko-KR" sz="2667" dirty="0">
                <a:solidFill>
                  <a:srgbClr val="0070C0"/>
                </a:solidFill>
              </a:rPr>
              <a:t>?</a:t>
            </a:r>
          </a:p>
          <a:p>
            <a:pPr>
              <a:spcBef>
                <a:spcPct val="0"/>
              </a:spcBef>
            </a:pPr>
            <a:endParaRPr lang="en-US" altLang="ko-KR" sz="2667" dirty="0"/>
          </a:p>
          <a:p>
            <a:pPr>
              <a:spcBef>
                <a:spcPct val="0"/>
              </a:spcBef>
            </a:pPr>
            <a:r>
              <a:rPr lang="en-US" altLang="ko-KR" sz="2667" dirty="0"/>
              <a:t>1. </a:t>
            </a:r>
            <a:r>
              <a:rPr lang="ko-KR" altLang="en-US" sz="2667" dirty="0"/>
              <a:t>의미</a:t>
            </a:r>
            <a:r>
              <a:rPr lang="en-US" altLang="ko-KR" sz="2667" dirty="0"/>
              <a:t>(Java</a:t>
            </a:r>
            <a:r>
              <a:rPr lang="ko-KR" altLang="en-US" sz="2667" dirty="0"/>
              <a:t>와 </a:t>
            </a:r>
            <a:r>
              <a:rPr lang="en-US" altLang="ko-KR" sz="2667" dirty="0"/>
              <a:t>DBMS </a:t>
            </a:r>
            <a:r>
              <a:rPr lang="ko-KR" altLang="en-US" sz="2667" dirty="0"/>
              <a:t>연결 프로그램</a:t>
            </a:r>
            <a:r>
              <a:rPr lang="en-US" altLang="ko-KR" sz="2667" dirty="0"/>
              <a:t>) </a:t>
            </a:r>
            <a:br>
              <a:rPr lang="en-US" altLang="ko-KR" sz="2667" dirty="0"/>
            </a:br>
            <a:r>
              <a:rPr lang="en-US" altLang="ko-KR" sz="2667" dirty="0"/>
              <a:t>    JAVA     -       </a:t>
            </a:r>
            <a:r>
              <a:rPr lang="en-US" sz="2667" dirty="0"/>
              <a:t> JDBC </a:t>
            </a:r>
            <a:r>
              <a:rPr lang="en-US" altLang="ko-KR" sz="2667" dirty="0"/>
              <a:t>      -               Oracle</a:t>
            </a:r>
          </a:p>
          <a:p>
            <a:pPr>
              <a:spcBef>
                <a:spcPct val="0"/>
              </a:spcBef>
            </a:pPr>
            <a:r>
              <a:rPr lang="en-US" altLang="ko-KR" sz="1524" dirty="0"/>
              <a:t>                                      </a:t>
            </a:r>
            <a:r>
              <a:rPr lang="ko-KR" altLang="en-US" sz="1524" dirty="0"/>
              <a:t>각 회사별 드라이버 존재</a:t>
            </a:r>
            <a:r>
              <a:rPr lang="en-US" altLang="ko-KR" sz="1524" dirty="0"/>
              <a:t>                  </a:t>
            </a:r>
            <a:r>
              <a:rPr lang="ko-KR" altLang="en-US" sz="1524" dirty="0"/>
              <a:t>다운 받을 때 같이 포함되어 있음</a:t>
            </a:r>
            <a:endParaRPr lang="en-US" altLang="ko-KR" sz="1524" dirty="0"/>
          </a:p>
          <a:p>
            <a:pPr>
              <a:spcBef>
                <a:spcPct val="0"/>
              </a:spcBef>
            </a:pPr>
            <a:endParaRPr lang="en-US" altLang="ko-KR" sz="1524" dirty="0"/>
          </a:p>
          <a:p>
            <a:pPr>
              <a:spcBef>
                <a:spcPct val="0"/>
              </a:spcBef>
            </a:pPr>
            <a:endParaRPr lang="en-US" altLang="ko-KR" sz="1524" dirty="0"/>
          </a:p>
          <a:p>
            <a:pPr>
              <a:spcBef>
                <a:spcPct val="0"/>
              </a:spcBef>
            </a:pPr>
            <a:r>
              <a:rPr lang="en-US" altLang="ko-KR" sz="2286" dirty="0"/>
              <a:t>2. </a:t>
            </a:r>
            <a:r>
              <a:rPr lang="ko-KR" altLang="en-US" sz="2286" dirty="0"/>
              <a:t>어디서 구하는가</a:t>
            </a:r>
            <a:br>
              <a:rPr lang="ko-KR" altLang="en-US" sz="2286" dirty="0"/>
            </a:br>
            <a:r>
              <a:rPr lang="ko-KR" altLang="en-US" sz="2286" dirty="0"/>
              <a:t>      </a:t>
            </a:r>
            <a:endParaRPr lang="en-US" altLang="ko-KR" sz="2286" dirty="0" smtClean="0"/>
          </a:p>
          <a:p>
            <a:pPr>
              <a:spcBef>
                <a:spcPct val="0"/>
              </a:spcBef>
              <a:buNone/>
            </a:pPr>
            <a:r>
              <a:rPr lang="ko-KR" altLang="en-US" sz="2286" dirty="0" smtClean="0"/>
              <a:t>      </a:t>
            </a:r>
            <a:r>
              <a:rPr lang="en-US" altLang="ko-KR" sz="2000" dirty="0" smtClean="0"/>
              <a:t>C</a:t>
            </a:r>
            <a:r>
              <a:rPr lang="en-US" altLang="ko-KR" sz="2000" dirty="0"/>
              <a:t>:\</a:t>
            </a:r>
            <a:r>
              <a:rPr lang="en-US" altLang="ko-KR" sz="2000" dirty="0" smtClean="0"/>
              <a:t>oraclexe\app\oracle\product\11.2.0\server\jdbc\lib\ojdbc6.jar</a:t>
            </a:r>
            <a:r>
              <a:rPr lang="en-US" altLang="ko-KR" sz="1524" dirty="0"/>
              <a:t/>
            </a:r>
            <a:br>
              <a:rPr lang="en-US" altLang="ko-KR" sz="1524" dirty="0"/>
            </a:br>
            <a:r>
              <a:rPr lang="en-US" altLang="ko-KR" sz="1524" dirty="0"/>
              <a:t>                               </a:t>
            </a:r>
            <a:br>
              <a:rPr lang="en-US" altLang="ko-KR" sz="1524" dirty="0"/>
            </a:br>
            <a:r>
              <a:rPr lang="en-US" altLang="ko-KR" sz="1524" dirty="0"/>
              <a:t>                               </a:t>
            </a:r>
            <a:r>
              <a:rPr lang="ko-KR" altLang="en-US" sz="1524" dirty="0"/>
              <a:t>       </a:t>
            </a:r>
            <a:r>
              <a:rPr lang="ko-KR" altLang="en-US" sz="2667" dirty="0"/>
              <a:t>         </a:t>
            </a:r>
          </a:p>
          <a:p>
            <a:pPr>
              <a:spcBef>
                <a:spcPct val="0"/>
              </a:spcBef>
            </a:pPr>
            <a:endParaRPr lang="en-US" sz="2667" dirty="0"/>
          </a:p>
          <a:p>
            <a:pPr>
              <a:spcBef>
                <a:spcPct val="0"/>
              </a:spcBef>
            </a:pPr>
            <a:endParaRPr lang="ko-KR" altLang="en-US" sz="2476" dirty="0">
              <a:solidFill>
                <a:srgbClr val="4378B5"/>
              </a:solidFill>
              <a:latin typeface="Arial Narrow" pitchFamily="34" charset="0"/>
            </a:endParaRPr>
          </a:p>
          <a:p>
            <a:pPr>
              <a:spcBef>
                <a:spcPct val="0"/>
              </a:spcBef>
              <a:spcAft>
                <a:spcPct val="20000"/>
              </a:spcAft>
            </a:pPr>
            <a:endParaRPr lang="ko-KR" altLang="en-US" sz="1905" dirty="0">
              <a:solidFill>
                <a:srgbClr val="4378B5"/>
              </a:solidFill>
              <a:latin typeface="Arial Narrow" pitchFamily="34" charset="0"/>
            </a:endParaRPr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  <a:p>
            <a:pPr marL="556392" lvl="2" indent="-96764">
              <a:spcAft>
                <a:spcPct val="20000"/>
              </a:spcAft>
            </a:pPr>
            <a:endParaRPr lang="en-US" altLang="ko-KR" sz="1524" dirty="0"/>
          </a:p>
        </p:txBody>
      </p:sp>
      <p:sp>
        <p:nvSpPr>
          <p:cNvPr id="781319" name="Oval 7"/>
          <p:cNvSpPr>
            <a:spLocks noChangeArrowheads="1"/>
          </p:cNvSpPr>
          <p:nvPr/>
        </p:nvSpPr>
        <p:spPr bwMode="auto">
          <a:xfrm>
            <a:off x="4360334" y="5400524"/>
            <a:ext cx="439965" cy="92227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714"/>
          </a:p>
        </p:txBody>
      </p:sp>
      <p:sp>
        <p:nvSpPr>
          <p:cNvPr id="781320" name="Oval 8"/>
          <p:cNvSpPr>
            <a:spLocks noChangeArrowheads="1"/>
          </p:cNvSpPr>
          <p:nvPr/>
        </p:nvSpPr>
        <p:spPr bwMode="auto">
          <a:xfrm>
            <a:off x="2907394" y="3905251"/>
            <a:ext cx="438452" cy="90714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714"/>
          </a:p>
        </p:txBody>
      </p:sp>
    </p:spTree>
    <p:extLst>
      <p:ext uri="{BB962C8B-B14F-4D97-AF65-F5344CB8AC3E}">
        <p14:creationId xmlns:p14="http://schemas.microsoft.com/office/powerpoint/2010/main" xmlns="" val="224556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92867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 smtClean="0"/>
              <a:t>이클립스에서</a:t>
            </a:r>
            <a:r>
              <a:rPr lang="ko-KR" altLang="en-US" sz="3200" dirty="0" smtClean="0"/>
              <a:t> 데이터베이스에 연결하는 방법</a:t>
            </a:r>
            <a:endParaRPr lang="ko-KR" altLang="en-US" sz="3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4282" y="642918"/>
            <a:ext cx="8501122" cy="1071570"/>
          </a:xfrm>
          <a:prstGeom prst="roundRect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785926"/>
            <a:ext cx="6962775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92867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 smtClean="0"/>
              <a:t>이클립스에서</a:t>
            </a:r>
            <a:r>
              <a:rPr lang="ko-KR" altLang="en-US" sz="3200" dirty="0" smtClean="0"/>
              <a:t> 데이터베이스에 연결하는 방법</a:t>
            </a:r>
            <a:endParaRPr lang="ko-KR" altLang="en-US" sz="3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4282" y="642918"/>
            <a:ext cx="8501122" cy="1071570"/>
          </a:xfrm>
          <a:prstGeom prst="roundRect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" y="1619250"/>
            <a:ext cx="8924925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92867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 smtClean="0"/>
              <a:t>이클립스에서</a:t>
            </a:r>
            <a:r>
              <a:rPr lang="ko-KR" altLang="en-US" sz="3200" dirty="0" smtClean="0"/>
              <a:t> 데이터베이스에 연결하는 방법</a:t>
            </a:r>
            <a:endParaRPr lang="ko-KR" altLang="en-US" sz="3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4282" y="642918"/>
            <a:ext cx="8501122" cy="1071570"/>
          </a:xfrm>
          <a:prstGeom prst="roundRect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714488"/>
            <a:ext cx="11687176" cy="7248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92867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 smtClean="0"/>
              <a:t>이클립스에서</a:t>
            </a:r>
            <a:r>
              <a:rPr lang="ko-KR" altLang="en-US" sz="3200" dirty="0" smtClean="0"/>
              <a:t> 데이터베이스에 연결하는 방법</a:t>
            </a:r>
            <a:endParaRPr lang="ko-KR" altLang="en-US" sz="3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4282" y="642918"/>
            <a:ext cx="8501122" cy="1071570"/>
          </a:xfrm>
          <a:prstGeom prst="roundRect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" y="1785926"/>
            <a:ext cx="905827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JDBC </a:t>
            </a:r>
            <a:r>
              <a:rPr lang="ko-KR" altLang="en-US" dirty="0" smtClean="0"/>
              <a:t>프로그래밍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연결 오류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 descr="이클립스와 오라클 연동 오류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830010" y="639516"/>
            <a:ext cx="7279872" cy="6055221"/>
          </a:xfrm>
        </p:spPr>
      </p:pic>
    </p:spTree>
    <p:extLst>
      <p:ext uri="{BB962C8B-B14F-4D97-AF65-F5344CB8AC3E}">
        <p14:creationId xmlns:p14="http://schemas.microsoft.com/office/powerpoint/2010/main" xmlns="" val="6434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JDBC </a:t>
            </a:r>
            <a:r>
              <a:rPr lang="ko-KR" altLang="en-US" dirty="0" smtClean="0"/>
              <a:t>프로그래밍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내용 개체 틀 6" descr="오라클 구동시 실행되어야할 파일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217715" y="843625"/>
            <a:ext cx="8540523" cy="5783076"/>
          </a:xfrm>
        </p:spPr>
      </p:pic>
    </p:spTree>
    <p:extLst>
      <p:ext uri="{BB962C8B-B14F-4D97-AF65-F5344CB8AC3E}">
        <p14:creationId xmlns:p14="http://schemas.microsoft.com/office/powerpoint/2010/main" xmlns="" val="259650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4250" y="1785926"/>
            <a:ext cx="89297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3200" dirty="0" smtClean="0"/>
          </a:p>
          <a:p>
            <a:r>
              <a:rPr lang="en-US" altLang="ko-KR" sz="3200" dirty="0" smtClean="0">
                <a:solidFill>
                  <a:srgbClr val="0070C0"/>
                </a:solidFill>
              </a:rPr>
              <a:t>1. </a:t>
            </a:r>
            <a:r>
              <a:rPr lang="ko-KR" altLang="en-US" sz="3200" dirty="0" err="1" smtClean="0">
                <a:solidFill>
                  <a:srgbClr val="0070C0"/>
                </a:solidFill>
              </a:rPr>
              <a:t>이클립스</a:t>
            </a:r>
            <a:r>
              <a:rPr lang="ko-KR" altLang="en-US" sz="3200" dirty="0" smtClean="0">
                <a:solidFill>
                  <a:srgbClr val="0070C0"/>
                </a:solidFill>
              </a:rPr>
              <a:t> 하단에 </a:t>
            </a:r>
            <a:r>
              <a:rPr lang="en-US" altLang="ko-KR" sz="3200" dirty="0" smtClean="0">
                <a:solidFill>
                  <a:srgbClr val="0070C0"/>
                </a:solidFill>
              </a:rPr>
              <a:t>View </a:t>
            </a:r>
            <a:r>
              <a:rPr lang="ko-KR" altLang="en-US" sz="3200" dirty="0" smtClean="0">
                <a:solidFill>
                  <a:srgbClr val="0070C0"/>
                </a:solidFill>
              </a:rPr>
              <a:t>생성하기</a:t>
            </a:r>
            <a:endParaRPr lang="en-US" altLang="ko-KR" sz="3200" dirty="0" smtClean="0">
              <a:solidFill>
                <a:srgbClr val="0070C0"/>
              </a:solidFill>
            </a:endParaRPr>
          </a:p>
          <a:p>
            <a:r>
              <a:rPr lang="ko-KR" altLang="en-US" sz="3200" dirty="0" smtClean="0">
                <a:solidFill>
                  <a:srgbClr val="0070C0"/>
                </a:solidFill>
              </a:rPr>
              <a:t> </a:t>
            </a:r>
            <a:endParaRPr lang="en-US" altLang="ko-KR" sz="3200" dirty="0">
              <a:solidFill>
                <a:srgbClr val="0070C0"/>
              </a:solidFill>
            </a:endParaRPr>
          </a:p>
          <a:p>
            <a:r>
              <a:rPr lang="en-US" altLang="ko-KR" sz="3200" dirty="0" smtClean="0"/>
              <a:t>   </a:t>
            </a:r>
            <a:r>
              <a:rPr lang="ko-KR" altLang="en-US" sz="3200" dirty="0" smtClean="0"/>
              <a:t>메뉴 </a:t>
            </a:r>
            <a:r>
              <a:rPr lang="en-US" sz="3200" dirty="0"/>
              <a:t>Window </a:t>
            </a:r>
            <a:endParaRPr lang="en-US" sz="3200" dirty="0" smtClean="0"/>
          </a:p>
          <a:p>
            <a:pPr>
              <a:buFontTx/>
              <a:buChar char="-"/>
            </a:pPr>
            <a:r>
              <a:rPr lang="en-US" sz="3200" dirty="0" smtClean="0"/>
              <a:t>&gt; Show </a:t>
            </a:r>
            <a:r>
              <a:rPr lang="en-US" sz="3200" dirty="0"/>
              <a:t>View </a:t>
            </a:r>
            <a:r>
              <a:rPr lang="en-US" sz="3200" dirty="0" smtClean="0"/>
              <a:t>  -&gt; Other   -&gt; Data </a:t>
            </a:r>
            <a:r>
              <a:rPr lang="en-US" sz="3200" dirty="0"/>
              <a:t>Management </a:t>
            </a:r>
            <a:endParaRPr lang="en-US" sz="3200" dirty="0" smtClean="0"/>
          </a:p>
          <a:p>
            <a:pPr>
              <a:buFontTx/>
              <a:buChar char="-"/>
            </a:pPr>
            <a:r>
              <a:rPr lang="en-US" sz="3200" dirty="0" smtClean="0"/>
              <a:t>&gt; </a:t>
            </a:r>
            <a:r>
              <a:rPr lang="en-US" sz="3200" dirty="0"/>
              <a:t>Data Source Explorer - </a:t>
            </a:r>
            <a:r>
              <a:rPr lang="en-US" sz="3200" dirty="0" smtClean="0"/>
              <a:t>open</a:t>
            </a:r>
            <a:r>
              <a:rPr lang="en-US" sz="3200" dirty="0"/>
              <a:t> </a:t>
            </a:r>
          </a:p>
          <a:p>
            <a:r>
              <a:rPr lang="en-US" sz="3200" dirty="0" smtClean="0"/>
              <a:t> </a:t>
            </a:r>
            <a:r>
              <a:rPr lang="en-US" sz="3200" dirty="0"/>
              <a:t>==&gt; Data Source Explorer </a:t>
            </a:r>
            <a:r>
              <a:rPr lang="ko-KR" altLang="en-US" sz="3200" dirty="0"/>
              <a:t>하단에 </a:t>
            </a:r>
            <a:r>
              <a:rPr lang="en-US" sz="3200" dirty="0"/>
              <a:t>View </a:t>
            </a:r>
            <a:r>
              <a:rPr lang="ko-KR" altLang="en-US" sz="3200" dirty="0" smtClean="0"/>
              <a:t>생성</a:t>
            </a:r>
            <a:endParaRPr lang="en-US" altLang="ko-KR" sz="3200" dirty="0" smtClean="0"/>
          </a:p>
          <a:p>
            <a:endParaRPr lang="en-US" altLang="ko-KR" sz="3200" dirty="0"/>
          </a:p>
          <a:p>
            <a:r>
              <a:rPr lang="ko-KR" altLang="en-US" sz="3200" dirty="0" smtClean="0"/>
              <a:t> </a:t>
            </a:r>
            <a:endParaRPr lang="ko-KR" alt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14282" y="92867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 smtClean="0"/>
              <a:t>이클립스에서</a:t>
            </a:r>
            <a:r>
              <a:rPr lang="ko-KR" altLang="en-US" sz="3200" dirty="0" smtClean="0"/>
              <a:t> 데이터베이스에 연결하는 방법</a:t>
            </a:r>
            <a:endParaRPr lang="ko-KR" altLang="en-US" sz="3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4282" y="642918"/>
            <a:ext cx="8501122" cy="1071570"/>
          </a:xfrm>
          <a:prstGeom prst="roundRect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1406" y="285728"/>
            <a:ext cx="89297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rgbClr val="0070C0"/>
                </a:solidFill>
              </a:rPr>
              <a:t>2. Scott </a:t>
            </a:r>
            <a:r>
              <a:rPr lang="ko-KR" altLang="en-US" sz="3200" dirty="0" smtClean="0">
                <a:solidFill>
                  <a:srgbClr val="0070C0"/>
                </a:solidFill>
              </a:rPr>
              <a:t>등록하기  </a:t>
            </a:r>
            <a:r>
              <a:rPr lang="en-US" altLang="ko-KR" sz="3200" dirty="0" smtClean="0">
                <a:solidFill>
                  <a:srgbClr val="0070C0"/>
                </a:solidFill>
              </a:rPr>
              <a:t>- 1</a:t>
            </a:r>
          </a:p>
          <a:p>
            <a:r>
              <a:rPr lang="ko-KR" altLang="en-US" sz="3200" dirty="0" smtClean="0">
                <a:solidFill>
                  <a:srgbClr val="0070C0"/>
                </a:solidFill>
              </a:rPr>
              <a:t>  </a:t>
            </a:r>
            <a:endParaRPr lang="en-US" altLang="ko-KR" sz="3200" dirty="0" smtClean="0">
              <a:solidFill>
                <a:srgbClr val="0070C0"/>
              </a:solidFill>
            </a:endParaRPr>
          </a:p>
          <a:p>
            <a:endParaRPr lang="en-US" altLang="ko-KR" sz="3200" dirty="0" smtClean="0">
              <a:solidFill>
                <a:srgbClr val="0070C0"/>
              </a:solidFill>
            </a:endParaRPr>
          </a:p>
          <a:p>
            <a:endParaRPr lang="en-US" altLang="ko-KR" sz="3200" dirty="0" smtClean="0">
              <a:solidFill>
                <a:srgbClr val="0070C0"/>
              </a:solidFill>
            </a:endParaRPr>
          </a:p>
          <a:p>
            <a:endParaRPr lang="en-US" altLang="ko-KR" sz="3200" dirty="0" smtClean="0">
              <a:solidFill>
                <a:srgbClr val="0070C0"/>
              </a:solidFill>
            </a:endParaRPr>
          </a:p>
          <a:p>
            <a:r>
              <a:rPr lang="en-US" sz="2400" dirty="0" smtClean="0"/>
              <a:t>  </a:t>
            </a:r>
          </a:p>
          <a:p>
            <a:r>
              <a:rPr lang="en-US" sz="2400" dirty="0" smtClean="0"/>
              <a:t> </a:t>
            </a:r>
          </a:p>
          <a:p>
            <a:endParaRPr lang="en-US" sz="2400" dirty="0" smtClean="0"/>
          </a:p>
          <a:p>
            <a:r>
              <a:rPr lang="en-US" sz="2400" dirty="0" smtClean="0"/>
              <a:t>Data </a:t>
            </a:r>
            <a:r>
              <a:rPr lang="en-US" sz="2400" dirty="0"/>
              <a:t>Source Explore View</a:t>
            </a:r>
            <a:r>
              <a:rPr lang="ko-KR" altLang="en-US" sz="2400" dirty="0"/>
              <a:t>에서 </a:t>
            </a:r>
            <a:r>
              <a:rPr lang="en-US" sz="2400" dirty="0" smtClean="0"/>
              <a:t>  Database </a:t>
            </a:r>
            <a:r>
              <a:rPr lang="en-US" sz="2400" dirty="0"/>
              <a:t>Connections </a:t>
            </a:r>
            <a:r>
              <a:rPr lang="ko-KR" altLang="en-US" sz="2400" dirty="0"/>
              <a:t>선택 </a:t>
            </a:r>
            <a:endParaRPr lang="en-US" altLang="ko-KR" sz="2400" dirty="0" smtClean="0"/>
          </a:p>
          <a:p>
            <a:r>
              <a:rPr lang="en-US" altLang="ko-KR" sz="2400" dirty="0" smtClean="0"/>
              <a:t>-&gt; </a:t>
            </a:r>
            <a:r>
              <a:rPr lang="ko-KR" altLang="en-US" sz="2400" dirty="0"/>
              <a:t>오른쪽 마우스 버튼 </a:t>
            </a:r>
            <a:r>
              <a:rPr lang="en-US" sz="2400" dirty="0"/>
              <a:t>new </a:t>
            </a:r>
            <a:r>
              <a:rPr lang="ko-KR" altLang="en-US" sz="2400" dirty="0"/>
              <a:t>선택  </a:t>
            </a:r>
            <a:endParaRPr lang="en-US" altLang="ko-KR" sz="2400" dirty="0" smtClean="0"/>
          </a:p>
          <a:p>
            <a:r>
              <a:rPr lang="ko-KR" altLang="en-US" sz="2400" dirty="0"/>
              <a:t/>
            </a:r>
            <a:br>
              <a:rPr lang="ko-KR" altLang="en-US" sz="2400" dirty="0"/>
            </a:br>
            <a:endParaRPr lang="ko-KR" altLang="en-US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000108"/>
            <a:ext cx="8001056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5728"/>
            <a:ext cx="9072594" cy="664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06" y="357166"/>
            <a:ext cx="8942155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8143900" y="3571876"/>
            <a:ext cx="428628" cy="57150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1406" y="285728"/>
            <a:ext cx="89297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rgbClr val="0070C0"/>
                </a:solidFill>
              </a:rPr>
              <a:t>2. Scott </a:t>
            </a:r>
            <a:r>
              <a:rPr lang="ko-KR" altLang="en-US" sz="3200" dirty="0" smtClean="0">
                <a:solidFill>
                  <a:srgbClr val="0070C0"/>
                </a:solidFill>
              </a:rPr>
              <a:t>등록하기  </a:t>
            </a:r>
            <a:r>
              <a:rPr lang="en-US" altLang="ko-KR" sz="3200" dirty="0" smtClean="0">
                <a:solidFill>
                  <a:srgbClr val="0070C0"/>
                </a:solidFill>
              </a:rPr>
              <a:t>-2</a:t>
            </a:r>
          </a:p>
          <a:p>
            <a:r>
              <a:rPr lang="ko-KR" altLang="en-US" sz="3200" dirty="0" smtClean="0">
                <a:solidFill>
                  <a:srgbClr val="0070C0"/>
                </a:solidFill>
              </a:rPr>
              <a:t>  </a:t>
            </a:r>
            <a:endParaRPr lang="en-US" altLang="ko-KR" sz="3200" dirty="0" smtClean="0">
              <a:solidFill>
                <a:srgbClr val="0070C0"/>
              </a:solidFill>
            </a:endParaRPr>
          </a:p>
          <a:p>
            <a:r>
              <a:rPr lang="en-US" altLang="ko-KR" sz="2400" dirty="0" smtClean="0"/>
              <a:t>-&gt; </a:t>
            </a:r>
            <a:r>
              <a:rPr lang="en-US" altLang="ko-KR" sz="2400" dirty="0"/>
              <a:t>&lt;</a:t>
            </a:r>
            <a:r>
              <a:rPr lang="en-US" sz="2400" dirty="0"/>
              <a:t>Name/Type</a:t>
            </a:r>
            <a:r>
              <a:rPr lang="ko-KR" altLang="en-US" sz="2400" dirty="0"/>
              <a:t>탭</a:t>
            </a:r>
            <a:r>
              <a:rPr lang="en-US" altLang="ko-KR" sz="2400" dirty="0"/>
              <a:t>&gt; </a:t>
            </a:r>
            <a:endParaRPr lang="en-US" altLang="ko-KR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Oracle </a:t>
            </a:r>
            <a:r>
              <a:rPr lang="en-US" sz="2400" dirty="0"/>
              <a:t>Thin Driver Oracle 11 </a:t>
            </a:r>
            <a:r>
              <a:rPr lang="ko-KR" altLang="en-US" sz="2400" dirty="0"/>
              <a:t>선택 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sz="2400" dirty="0"/>
              <a:t/>
            </a:r>
            <a:br>
              <a:rPr lang="en-US" sz="2400" dirty="0"/>
            </a:b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285992"/>
            <a:ext cx="8001056" cy="4183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1406" y="285728"/>
            <a:ext cx="892975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rgbClr val="0070C0"/>
                </a:solidFill>
              </a:rPr>
              <a:t>2. Scott </a:t>
            </a:r>
            <a:r>
              <a:rPr lang="ko-KR" altLang="en-US" sz="3200" dirty="0" smtClean="0">
                <a:solidFill>
                  <a:srgbClr val="0070C0"/>
                </a:solidFill>
              </a:rPr>
              <a:t>등록하기  </a:t>
            </a:r>
            <a:r>
              <a:rPr lang="en-US" altLang="ko-KR" sz="3200" dirty="0" smtClean="0">
                <a:solidFill>
                  <a:srgbClr val="0070C0"/>
                </a:solidFill>
              </a:rPr>
              <a:t>-3</a:t>
            </a:r>
          </a:p>
          <a:p>
            <a:r>
              <a:rPr lang="ko-KR" altLang="en-US" sz="3200" dirty="0" smtClean="0">
                <a:solidFill>
                  <a:srgbClr val="0070C0"/>
                </a:solidFill>
              </a:rPr>
              <a:t>  </a:t>
            </a:r>
            <a:endParaRPr lang="en-US" altLang="ko-KR" sz="3200" dirty="0" smtClean="0">
              <a:solidFill>
                <a:srgbClr val="0070C0"/>
              </a:solidFill>
            </a:endParaRP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ko-KR" altLang="en-US" sz="2400" dirty="0"/>
              <a:t/>
            </a:r>
            <a:br>
              <a:rPr lang="ko-KR" altLang="en-US" sz="2400" dirty="0"/>
            </a:br>
            <a:endParaRPr lang="en-US" altLang="ko-KR" sz="2400" dirty="0" smtClean="0"/>
          </a:p>
          <a:p>
            <a:r>
              <a:rPr lang="en-US" altLang="ko-KR" sz="2400" dirty="0" smtClean="0"/>
              <a:t>-&gt; &lt;JAR List</a:t>
            </a:r>
            <a:r>
              <a:rPr lang="ko-KR" altLang="en-US" sz="2400" dirty="0" smtClean="0"/>
              <a:t>탭</a:t>
            </a:r>
            <a:r>
              <a:rPr lang="en-US" altLang="ko-KR" sz="2400" dirty="0" smtClean="0"/>
              <a:t>&gt; Clear All 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smtClean="0"/>
              <a:t>-&gt; </a:t>
            </a:r>
            <a:r>
              <a:rPr lang="en-US" sz="2400" dirty="0"/>
              <a:t>Add JAR/ZIP </a:t>
            </a:r>
            <a:r>
              <a:rPr lang="ko-KR" altLang="en-US" sz="2400" dirty="0"/>
              <a:t>선택 </a:t>
            </a:r>
            <a:endParaRPr lang="en-US" altLang="ko-KR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</a:t>
            </a:r>
            <a:r>
              <a:rPr lang="en-US" sz="2400" dirty="0" smtClean="0"/>
              <a:t>C:\</a:t>
            </a:r>
            <a:r>
              <a:rPr lang="en-US" sz="2400" dirty="0" smtClean="0"/>
              <a:t>oraclexe\app\oracle\product\11.2.0\server\jdbc\lib\ojdbc6.jar</a:t>
            </a:r>
            <a:endParaRPr lang="en-US" sz="2400" dirty="0" smtClean="0"/>
          </a:p>
          <a:p>
            <a:r>
              <a:rPr lang="en-US" sz="2400" dirty="0"/>
              <a:t/>
            </a:r>
            <a:br>
              <a:rPr lang="en-US" sz="2400" dirty="0"/>
            </a:b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643050"/>
            <a:ext cx="6863355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4"/>
          <p:cNvSpPr/>
          <p:nvPr/>
        </p:nvSpPr>
        <p:spPr>
          <a:xfrm>
            <a:off x="1785918" y="2500306"/>
            <a:ext cx="642942" cy="285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1406" y="285728"/>
            <a:ext cx="89297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rgbClr val="0070C0"/>
                </a:solidFill>
              </a:rPr>
              <a:t>2. Scott </a:t>
            </a:r>
            <a:r>
              <a:rPr lang="ko-KR" altLang="en-US" sz="3200" dirty="0" smtClean="0">
                <a:solidFill>
                  <a:srgbClr val="0070C0"/>
                </a:solidFill>
              </a:rPr>
              <a:t>등록하기  </a:t>
            </a:r>
            <a:r>
              <a:rPr lang="en-US" altLang="ko-KR" sz="3200" dirty="0" smtClean="0">
                <a:solidFill>
                  <a:srgbClr val="0070C0"/>
                </a:solidFill>
              </a:rPr>
              <a:t>- 4</a:t>
            </a:r>
          </a:p>
          <a:p>
            <a:r>
              <a:rPr lang="ko-KR" altLang="en-US" sz="3200" dirty="0" smtClean="0">
                <a:solidFill>
                  <a:srgbClr val="0070C0"/>
                </a:solidFill>
              </a:rPr>
              <a:t>  </a:t>
            </a:r>
            <a:endParaRPr lang="en-US" altLang="ko-KR" sz="3200" dirty="0" smtClean="0">
              <a:solidFill>
                <a:srgbClr val="0070C0"/>
              </a:solidFill>
            </a:endParaRPr>
          </a:p>
          <a:p>
            <a:r>
              <a:rPr lang="en-US" sz="2400" dirty="0" smtClean="0"/>
              <a:t>-&gt; </a:t>
            </a:r>
            <a:r>
              <a:rPr lang="en-US" sz="2400" dirty="0"/>
              <a:t>&lt;</a:t>
            </a:r>
            <a:r>
              <a:rPr lang="en-US" sz="2400" dirty="0" smtClean="0"/>
              <a:t>Properties</a:t>
            </a:r>
            <a:r>
              <a:rPr lang="ko-KR" altLang="en-US" sz="2400" dirty="0" smtClean="0"/>
              <a:t>탭</a:t>
            </a:r>
            <a:r>
              <a:rPr lang="en-US" sz="2400" dirty="0" smtClean="0"/>
              <a:t>&gt;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Connection URL </a:t>
            </a:r>
            <a:r>
              <a:rPr lang="en-US" sz="2400" dirty="0"/>
              <a:t>: </a:t>
            </a:r>
            <a:r>
              <a:rPr lang="en-US" sz="2400" dirty="0" err="1"/>
              <a:t>jdbc:oracle:thin</a:t>
            </a:r>
            <a:r>
              <a:rPr lang="en-US" sz="2400" dirty="0"/>
              <a:t>:@localhost:1521:xe  ,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Database </a:t>
            </a:r>
            <a:r>
              <a:rPr lang="en-US" sz="2400" dirty="0"/>
              <a:t>Name :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ko-KR" altLang="en-US" sz="2400" dirty="0"/>
              <a:t>로 </a:t>
            </a:r>
            <a:r>
              <a:rPr lang="ko-KR" altLang="en-US" sz="2400" dirty="0" smtClean="0"/>
              <a:t>수정</a:t>
            </a:r>
            <a:endParaRPr lang="en-US" altLang="ko-KR" sz="2400" dirty="0" smtClean="0"/>
          </a:p>
          <a:p>
            <a:r>
              <a:rPr lang="en-US" altLang="ko-KR" sz="2400" dirty="0"/>
              <a:t> </a:t>
            </a:r>
            <a:r>
              <a:rPr lang="en-US" altLang="ko-KR" sz="2400" dirty="0" smtClean="0"/>
              <a:t>    Password, User ID </a:t>
            </a:r>
            <a:r>
              <a:rPr lang="ko-KR" altLang="en-US" sz="2400" dirty="0" smtClean="0"/>
              <a:t>입력</a:t>
            </a:r>
            <a:r>
              <a:rPr lang="ko-KR" altLang="en-US" sz="3200" dirty="0"/>
              <a:t/>
            </a:r>
            <a:br>
              <a:rPr lang="ko-KR" altLang="en-US" sz="3200" dirty="0"/>
            </a:br>
            <a:r>
              <a:rPr lang="ko-KR" altLang="en-US" sz="3200" dirty="0"/>
              <a:t> </a:t>
            </a:r>
          </a:p>
          <a:p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2857496"/>
            <a:ext cx="692948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4"/>
          <p:cNvSpPr/>
          <p:nvPr/>
        </p:nvSpPr>
        <p:spPr>
          <a:xfrm>
            <a:off x="2714612" y="3929066"/>
            <a:ext cx="928694" cy="285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357818" y="857232"/>
            <a:ext cx="3500430" cy="939784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Test Connection  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143372" y="5429264"/>
            <a:ext cx="1071570" cy="357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8" y="3143248"/>
            <a:ext cx="371477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71480"/>
            <a:ext cx="5500694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57158" y="571480"/>
            <a:ext cx="8229600" cy="555468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3. Data Source Explore View</a:t>
            </a:r>
            <a:r>
              <a:rPr lang="ko-KR" altLang="en-US" dirty="0" smtClean="0">
                <a:solidFill>
                  <a:srgbClr val="0070C0"/>
                </a:solidFill>
              </a:rPr>
              <a:t>에서 </a:t>
            </a:r>
            <a:endParaRPr lang="en-US" altLang="ko-KR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ko-KR" dirty="0" smtClean="0">
                <a:solidFill>
                  <a:srgbClr val="0070C0"/>
                </a:solidFill>
              </a:rPr>
              <a:t>    </a:t>
            </a:r>
            <a:r>
              <a:rPr lang="ko-KR" altLang="en-US" dirty="0" smtClean="0">
                <a:solidFill>
                  <a:srgbClr val="0070C0"/>
                </a:solidFill>
              </a:rPr>
              <a:t>데이터베이스 연결과 끊기 방법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dirty="0" smtClean="0"/>
              <a:t> </a:t>
            </a:r>
            <a:endParaRPr lang="en-US" altLang="ko-KR" dirty="0" smtClean="0"/>
          </a:p>
          <a:p>
            <a:pPr>
              <a:buNone/>
            </a:pPr>
            <a:r>
              <a:rPr lang="ko-KR" altLang="en-US" dirty="0" smtClean="0"/>
              <a:t>  </a:t>
            </a:r>
            <a:r>
              <a:rPr lang="en-US" dirty="0" smtClean="0"/>
              <a:t>Data Source Explore View</a:t>
            </a:r>
            <a:r>
              <a:rPr lang="ko-KR" altLang="en-US" dirty="0" smtClean="0"/>
              <a:t>에서 </a:t>
            </a:r>
            <a:endParaRPr lang="en-US" altLang="ko-KR" dirty="0" smtClean="0"/>
          </a:p>
          <a:p>
            <a:pPr>
              <a:buNone/>
            </a:pPr>
            <a:r>
              <a:rPr lang="en-US" dirty="0" smtClean="0"/>
              <a:t>  New Oracle(</a:t>
            </a:r>
            <a:r>
              <a:rPr lang="en-US" dirty="0" err="1" smtClean="0"/>
              <a:t>scott</a:t>
            </a:r>
            <a:r>
              <a:rPr lang="en-US" dirty="0" smtClean="0"/>
              <a:t>)(Oracle v.0.2.0.2.0</a:t>
            </a:r>
          </a:p>
          <a:p>
            <a:pPr>
              <a:buNone/>
            </a:pPr>
            <a:r>
              <a:rPr lang="en-US" dirty="0" smtClean="0"/>
              <a:t>  -Production) </a:t>
            </a:r>
            <a:r>
              <a:rPr lang="ko-KR" altLang="en-US" dirty="0" smtClean="0"/>
              <a:t>선택 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  -&gt; </a:t>
            </a:r>
            <a:r>
              <a:rPr lang="ko-KR" altLang="en-US" dirty="0" smtClean="0"/>
              <a:t>오른쪽 마우스 버튼 메뉴이용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 -&gt; Disconnect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Connect </a:t>
            </a:r>
            <a:r>
              <a:rPr lang="ko-KR" altLang="en-US" dirty="0" smtClean="0"/>
              <a:t>선택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571480"/>
            <a:ext cx="8686800" cy="555468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4. SQL</a:t>
            </a:r>
            <a:r>
              <a:rPr lang="ko-KR" altLang="en-US" dirty="0" smtClean="0">
                <a:solidFill>
                  <a:srgbClr val="0070C0"/>
                </a:solidFill>
              </a:rPr>
              <a:t>파일 생성 </a:t>
            </a:r>
            <a:endParaRPr lang="en-US" altLang="ko-KR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ko-KR" dirty="0" smtClean="0">
                <a:solidFill>
                  <a:srgbClr val="0070C0"/>
                </a:solidFill>
              </a:rPr>
              <a:t>      </a:t>
            </a:r>
            <a:r>
              <a:rPr lang="en-US" altLang="ko-KR" dirty="0" smtClean="0">
                <a:solidFill>
                  <a:schemeClr val="tx1"/>
                </a:solidFill>
              </a:rPr>
              <a:t>1) </a:t>
            </a:r>
            <a:r>
              <a:rPr lang="ko-KR" altLang="en-US" dirty="0" smtClean="0">
                <a:solidFill>
                  <a:schemeClr val="tx1"/>
                </a:solidFill>
              </a:rPr>
              <a:t>패키지 생성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dirty="0" smtClean="0">
                <a:solidFill>
                  <a:srgbClr val="0070C0"/>
                </a:solidFill>
              </a:rPr>
              <a:t>           </a:t>
            </a:r>
            <a:r>
              <a:rPr lang="en-US" altLang="ko-KR" sz="3000" dirty="0" smtClean="0">
                <a:solidFill>
                  <a:schemeClr val="tx1"/>
                </a:solidFill>
              </a:rPr>
              <a:t>New -&gt; Package -&gt; </a:t>
            </a:r>
            <a:r>
              <a:rPr lang="en-US" altLang="ko-KR" sz="3000" dirty="0" err="1" smtClean="0">
                <a:solidFill>
                  <a:schemeClr val="tx1"/>
                </a:solidFill>
              </a:rPr>
              <a:t>sql</a:t>
            </a:r>
            <a:endParaRPr lang="en-US" altLang="ko-KR" sz="3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sz="3000" dirty="0" smtClean="0">
                <a:solidFill>
                  <a:schemeClr val="tx1"/>
                </a:solidFill>
              </a:rPr>
              <a:t>      2) SQL </a:t>
            </a:r>
            <a:r>
              <a:rPr lang="ko-KR" altLang="en-US" sz="3000" dirty="0" smtClean="0">
                <a:solidFill>
                  <a:schemeClr val="tx1"/>
                </a:solidFill>
              </a:rPr>
              <a:t>파일 생성</a:t>
            </a:r>
            <a:endParaRPr lang="en-US" altLang="ko-KR" sz="3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ko-KR" altLang="en-US" sz="3000" dirty="0" smtClean="0">
                <a:solidFill>
                  <a:schemeClr val="tx1"/>
                </a:solidFill>
              </a:rPr>
              <a:t>          패키지 </a:t>
            </a:r>
            <a:r>
              <a:rPr lang="en-US" altLang="ko-KR" sz="3000" dirty="0" err="1" smtClean="0">
                <a:solidFill>
                  <a:schemeClr val="tx1"/>
                </a:solidFill>
              </a:rPr>
              <a:t>sql</a:t>
            </a:r>
            <a:r>
              <a:rPr lang="en-US" altLang="ko-KR" sz="3000" dirty="0" smtClean="0">
                <a:solidFill>
                  <a:schemeClr val="tx1"/>
                </a:solidFill>
              </a:rPr>
              <a:t> </a:t>
            </a:r>
            <a:r>
              <a:rPr lang="ko-KR" altLang="en-US" sz="3000" dirty="0" smtClean="0">
                <a:solidFill>
                  <a:schemeClr val="tx1"/>
                </a:solidFill>
              </a:rPr>
              <a:t>선택 후 오른쪽 마우스 버튼 클릭</a:t>
            </a:r>
            <a:br>
              <a:rPr lang="ko-KR" altLang="en-US" sz="3000" dirty="0" smtClean="0">
                <a:solidFill>
                  <a:schemeClr val="tx1"/>
                </a:solidFill>
              </a:rPr>
            </a:br>
            <a:r>
              <a:rPr lang="ko-KR" altLang="en-US" sz="3000" dirty="0" smtClean="0"/>
              <a:t> </a:t>
            </a:r>
            <a:r>
              <a:rPr lang="en-US" altLang="ko-KR" sz="3000" dirty="0" smtClean="0"/>
              <a:t>-&gt; </a:t>
            </a:r>
            <a:r>
              <a:rPr lang="en-US" sz="3000" dirty="0" smtClean="0"/>
              <a:t>New  -&gt; Other -&gt; SQL Development </a:t>
            </a:r>
          </a:p>
          <a:p>
            <a:pPr>
              <a:buNone/>
            </a:pPr>
            <a:r>
              <a:rPr lang="en-US" sz="3000" dirty="0" smtClean="0"/>
              <a:t>    -&gt; SQL File </a:t>
            </a:r>
            <a:r>
              <a:rPr lang="ko-KR" altLang="en-US" sz="3000" dirty="0" smtClean="0"/>
              <a:t>선택</a:t>
            </a:r>
            <a:endParaRPr lang="en-US" altLang="ko-KR" sz="3000" dirty="0" smtClean="0"/>
          </a:p>
          <a:p>
            <a:pPr>
              <a:buNone/>
            </a:pPr>
            <a:r>
              <a:rPr lang="en-US" altLang="ko-KR" sz="3000" dirty="0" smtClean="0"/>
              <a:t>     -&gt; File name : A</a:t>
            </a:r>
            <a:r>
              <a:rPr lang="ko-KR" altLang="en-US" sz="3000" dirty="0" smtClean="0"/>
              <a:t/>
            </a:r>
            <a:br>
              <a:rPr lang="ko-KR" altLang="en-US" sz="3000" dirty="0" smtClean="0"/>
            </a:br>
            <a:r>
              <a:rPr lang="ko-KR" altLang="en-US" sz="3000" dirty="0" smtClean="0"/>
              <a:t>     </a:t>
            </a:r>
            <a:r>
              <a:rPr lang="en-US" altLang="ko-KR" sz="3000" dirty="0" smtClean="0"/>
              <a:t> </a:t>
            </a:r>
            <a:r>
              <a:rPr lang="en-US" sz="3000" dirty="0" smtClean="0"/>
              <a:t>Database server type : Oracle_11, </a:t>
            </a:r>
          </a:p>
          <a:p>
            <a:pPr>
              <a:buNone/>
            </a:pPr>
            <a:r>
              <a:rPr lang="en-US" sz="3000" dirty="0" smtClean="0"/>
              <a:t>          Connection profile name : New Oracle(</a:t>
            </a:r>
            <a:r>
              <a:rPr lang="en-US" sz="3000" dirty="0" err="1" smtClean="0"/>
              <a:t>scott</a:t>
            </a:r>
            <a:r>
              <a:rPr lang="en-US" sz="3000" dirty="0" smtClean="0"/>
              <a:t>),               </a:t>
            </a:r>
          </a:p>
          <a:p>
            <a:pPr>
              <a:buNone/>
            </a:pPr>
            <a:r>
              <a:rPr lang="en-US" sz="3000" dirty="0" smtClean="0"/>
              <a:t>         Database name : </a:t>
            </a:r>
            <a:r>
              <a:rPr lang="en-US" sz="3000" dirty="0" err="1" smtClean="0"/>
              <a:t>xe</a:t>
            </a:r>
            <a:r>
              <a:rPr lang="en-US" sz="3000" dirty="0" smtClean="0"/>
              <a:t> </a:t>
            </a:r>
            <a:r>
              <a:rPr lang="ko-KR" altLang="en-US" sz="3000" dirty="0" smtClean="0"/>
              <a:t>선택</a:t>
            </a:r>
            <a:endParaRPr lang="en-US" altLang="ko-KR" sz="3000" dirty="0" smtClean="0"/>
          </a:p>
          <a:p>
            <a:pPr>
              <a:buNone/>
            </a:pPr>
            <a:r>
              <a:rPr lang="en-US" altLang="ko-KR" sz="3000" dirty="0" smtClean="0"/>
              <a:t>     -&gt; </a:t>
            </a:r>
            <a:r>
              <a:rPr lang="en-US" sz="3000" dirty="0" smtClean="0"/>
              <a:t>finish </a:t>
            </a:r>
            <a:r>
              <a:rPr lang="ko-KR" altLang="en-US" sz="3000" dirty="0" smtClean="0"/>
              <a:t>버튼 선택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고구려 벽화">
  <a:themeElements>
    <a:clrScheme name="고구려 벽화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E49458"/>
      </a:accent1>
      <a:accent2>
        <a:srgbClr val="74AD8D"/>
      </a:accent2>
      <a:accent3>
        <a:srgbClr val="D4AC30"/>
      </a:accent3>
      <a:accent4>
        <a:srgbClr val="7BA5BE"/>
      </a:accent4>
      <a:accent5>
        <a:srgbClr val="E4A098"/>
      </a:accent5>
      <a:accent6>
        <a:srgbClr val="70B4B7"/>
      </a:accent6>
      <a:hlink>
        <a:srgbClr val="008685"/>
      </a:hlink>
      <a:folHlink>
        <a:srgbClr val="EA5A23"/>
      </a:folHlink>
    </a:clrScheme>
    <a:fontScheme name="고구려 벽화">
      <a:maj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고구려 벽화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18000">
              <a:schemeClr val="phClr">
                <a:tint val="20000"/>
                <a:shade val="100000"/>
                <a:hueMod val="100000"/>
                <a:satMod val="100000"/>
              </a:schemeClr>
            </a:gs>
            <a:gs pos="87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95000"/>
                <a:hueMod val="100000"/>
                <a:satMod val="100000"/>
              </a:schemeClr>
            </a:gs>
          </a:gsLst>
          <a:lin ang="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r="5400000" algn="tl">
              <a:srgbClr val="EBE9ED">
                <a:alpha val="0"/>
              </a:srgbClr>
            </a:outerShdw>
          </a:effectLst>
        </a:effectStyle>
        <a:effectStyle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01600" dist="76200" dir="2700000" algn="bl">
              <a:srgbClr val="000000">
                <a:alpha val="30588"/>
              </a:srgbClr>
            </a:outerShdw>
          </a:effectLst>
          <a:scene3d>
            <a:camera prst="orthographicFront" fov="0">
              <a:rot lat="0" lon="0" rev="0"/>
            </a:camera>
            <a:lightRig rig="chilly" dir="t">
              <a:rot lat="0" lon="0" rev="4200000"/>
            </a:lightRig>
          </a:scene3d>
          <a:sp3d contourW="25400" prstMaterial="matte">
            <a:bevelT h="88900"/>
            <a:contourClr>
              <a:srgbClr val="FFFFFF">
                <a:alpha val="0"/>
              </a:srgb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60000">
              <a:schemeClr val="phClr">
                <a:tint val="100000"/>
                <a:shade val="55000"/>
                <a:hueMod val="100000"/>
                <a:satMod val="100000"/>
              </a:schemeClr>
            </a:gs>
          </a:gsLst>
          <a:path path="circle">
            <a:fillToRect l="50000" t="90000" r="50000" b="1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3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168</TotalTime>
  <Words>186</Words>
  <Application>Microsoft Office PowerPoint</Application>
  <PresentationFormat>화면 슬라이드 쇼(4:3)</PresentationFormat>
  <Paragraphs>91</Paragraphs>
  <Slides>17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고구려 벽화</vt:lpstr>
      <vt:lpstr>JDBC 프로그래밍</vt:lpstr>
      <vt:lpstr>슬라이드 2</vt:lpstr>
      <vt:lpstr>슬라이드 3</vt:lpstr>
      <vt:lpstr>슬라이드 4</vt:lpstr>
      <vt:lpstr>슬라이드 5</vt:lpstr>
      <vt:lpstr>JDBC 프로그래밍 – 연결 오류 </vt:lpstr>
      <vt:lpstr>JDBC 프로그래밍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Test Connection   클릭</vt:lpstr>
      <vt:lpstr>슬라이드 16</vt:lpstr>
      <vt:lpstr>슬라이드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다다</dc:creator>
  <cp:lastModifiedBy>user</cp:lastModifiedBy>
  <cp:revision>39</cp:revision>
  <dcterms:created xsi:type="dcterms:W3CDTF">2015-12-16T02:44:02Z</dcterms:created>
  <dcterms:modified xsi:type="dcterms:W3CDTF">2022-06-14T08:24:33Z</dcterms:modified>
</cp:coreProperties>
</file>